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58"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341225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291466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2668842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E3E47A-9417-4A16-B3C0-5678E6BCABB0}"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1642928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E3E47A-9417-4A16-B3C0-5678E6BCABB0}" type="datetimeFigureOut">
              <a:rPr lang="en-US" smtClean="0"/>
              <a:t>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1292169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E3E47A-9417-4A16-B3C0-5678E6BCABB0}" type="datetimeFigureOut">
              <a:rPr lang="en-US" smtClean="0"/>
              <a:t>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3561824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E3E47A-9417-4A16-B3C0-5678E6BCABB0}" type="datetimeFigureOut">
              <a:rPr lang="en-US" smtClean="0"/>
              <a:t>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250432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E3E47A-9417-4A16-B3C0-5678E6BCABB0}"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1413423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E3E47A-9417-4A16-B3C0-5678E6BCABB0}"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1788153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4211450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64329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246208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18491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1223314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557800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E3E47A-9417-4A16-B3C0-5678E6BCABB0}"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55D27C-E0CA-4A54-B3AC-CE685737F36F}" type="slidenum">
              <a:rPr lang="en-US" smtClean="0"/>
              <a:t>‹#›</a:t>
            </a:fld>
            <a:endParaRPr lang="en-US"/>
          </a:p>
        </p:txBody>
      </p:sp>
    </p:spTree>
    <p:extLst>
      <p:ext uri="{BB962C8B-B14F-4D97-AF65-F5344CB8AC3E}">
        <p14:creationId xmlns:p14="http://schemas.microsoft.com/office/powerpoint/2010/main" val="3044030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7E3E47A-9417-4A16-B3C0-5678E6BCABB0}" type="datetimeFigureOut">
              <a:rPr lang="en-US" smtClean="0"/>
              <a:t>2/13/2025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855D27C-E0CA-4A54-B3AC-CE685737F36F}" type="slidenum">
              <a:rPr lang="en-US" smtClean="0"/>
              <a:t>‹#›</a:t>
            </a:fld>
            <a:endParaRPr lang="en-US"/>
          </a:p>
        </p:txBody>
      </p:sp>
    </p:spTree>
    <p:extLst>
      <p:ext uri="{BB962C8B-B14F-4D97-AF65-F5344CB8AC3E}">
        <p14:creationId xmlns:p14="http://schemas.microsoft.com/office/powerpoint/2010/main" val="11801724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rouplens.org/datasets/movielens/lates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7436-0A16-BD00-4FC8-9A1FCDE10641}"/>
              </a:ext>
            </a:extLst>
          </p:cNvPr>
          <p:cNvSpPr>
            <a:spLocks noGrp="1"/>
          </p:cNvSpPr>
          <p:nvPr>
            <p:ph type="ctrTitle"/>
          </p:nvPr>
        </p:nvSpPr>
        <p:spPr/>
        <p:txBody>
          <a:bodyPr>
            <a:normAutofit fontScale="90000"/>
          </a:bodyPr>
          <a:lstStyle/>
          <a:p>
            <a:r>
              <a:rPr lang="en-US" dirty="0"/>
              <a:t>Movie Recommendation System with Collaborative Filtering</a:t>
            </a:r>
          </a:p>
        </p:txBody>
      </p:sp>
      <p:sp>
        <p:nvSpPr>
          <p:cNvPr id="3" name="Subtitle 2">
            <a:extLst>
              <a:ext uri="{FF2B5EF4-FFF2-40B4-BE49-F238E27FC236}">
                <a16:creationId xmlns:a16="http://schemas.microsoft.com/office/drawing/2014/main" id="{D89E3A3F-5E5B-D4D9-EB75-81BA3A7E10D9}"/>
              </a:ext>
            </a:extLst>
          </p:cNvPr>
          <p:cNvSpPr>
            <a:spLocks noGrp="1"/>
          </p:cNvSpPr>
          <p:nvPr>
            <p:ph type="subTitle" idx="1"/>
          </p:nvPr>
        </p:nvSpPr>
        <p:spPr/>
        <p:txBody>
          <a:bodyPr/>
          <a:lstStyle/>
          <a:p>
            <a:r>
              <a:rPr lang="en-US" dirty="0"/>
              <a:t>PHASE 4 PROJECT</a:t>
            </a:r>
          </a:p>
        </p:txBody>
      </p:sp>
    </p:spTree>
    <p:extLst>
      <p:ext uri="{BB962C8B-B14F-4D97-AF65-F5344CB8AC3E}">
        <p14:creationId xmlns:p14="http://schemas.microsoft.com/office/powerpoint/2010/main" val="1143878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94B01-B256-4980-A7F8-12777F925AF3}"/>
              </a:ext>
            </a:extLst>
          </p:cNvPr>
          <p:cNvSpPr>
            <a:spLocks noGrp="1"/>
          </p:cNvSpPr>
          <p:nvPr>
            <p:ph type="title"/>
          </p:nvPr>
        </p:nvSpPr>
        <p:spPr/>
        <p:txBody>
          <a:bodyPr/>
          <a:lstStyle/>
          <a:p>
            <a:r>
              <a:rPr lang="en-US" dirty="0"/>
              <a:t>Project Objective	</a:t>
            </a:r>
          </a:p>
        </p:txBody>
      </p:sp>
      <p:sp>
        <p:nvSpPr>
          <p:cNvPr id="3" name="Content Placeholder 2">
            <a:extLst>
              <a:ext uri="{FF2B5EF4-FFF2-40B4-BE49-F238E27FC236}">
                <a16:creationId xmlns:a16="http://schemas.microsoft.com/office/drawing/2014/main" id="{FFE5FA1E-AA74-3F01-29C0-52AB56CE7591}"/>
              </a:ext>
            </a:extLst>
          </p:cNvPr>
          <p:cNvSpPr>
            <a:spLocks noGrp="1"/>
          </p:cNvSpPr>
          <p:nvPr>
            <p:ph idx="1"/>
          </p:nvPr>
        </p:nvSpPr>
        <p:spPr/>
        <p:txBody>
          <a:bodyPr/>
          <a:lstStyle/>
          <a:p>
            <a:pPr marL="0" indent="0" algn="l">
              <a:buNone/>
            </a:pPr>
            <a:r>
              <a:rPr lang="en-US" b="0" i="0" dirty="0">
                <a:solidFill>
                  <a:srgbClr val="000000"/>
                </a:solidFill>
                <a:effectLst/>
                <a:latin typeface="Helvetica Neue"/>
              </a:rPr>
              <a:t>In this project, we will build a collaborative filtering recommender system using surprise library. Some of the key highlights of this project are:</a:t>
            </a:r>
          </a:p>
          <a:p>
            <a:pPr algn="l">
              <a:spcAft>
                <a:spcPts val="675"/>
              </a:spcAft>
              <a:buFont typeface="+mj-lt"/>
              <a:buAutoNum type="arabicPeriod"/>
            </a:pPr>
            <a:r>
              <a:rPr lang="en-US" b="0" i="0" dirty="0">
                <a:solidFill>
                  <a:srgbClr val="000000"/>
                </a:solidFill>
                <a:effectLst/>
                <a:latin typeface="Helvetica Neue"/>
              </a:rPr>
              <a:t>Use surprise's built-in reader class to process data to work with recommender algorithms</a:t>
            </a:r>
          </a:p>
          <a:p>
            <a:pPr algn="l">
              <a:spcAft>
                <a:spcPts val="675"/>
              </a:spcAft>
              <a:buFont typeface="+mj-lt"/>
              <a:buAutoNum type="arabicPeriod"/>
            </a:pPr>
            <a:r>
              <a:rPr lang="en-US" b="0" i="0" dirty="0">
                <a:solidFill>
                  <a:srgbClr val="000000"/>
                </a:solidFill>
                <a:effectLst/>
                <a:latin typeface="Helvetica Neue"/>
              </a:rPr>
              <a:t>Obtain a prediction for a specific user for a particular item</a:t>
            </a:r>
          </a:p>
          <a:p>
            <a:pPr algn="l">
              <a:spcAft>
                <a:spcPts val="675"/>
              </a:spcAft>
              <a:buFont typeface="+mj-lt"/>
              <a:buAutoNum type="arabicPeriod"/>
            </a:pPr>
            <a:r>
              <a:rPr lang="en-US" b="0" i="0" dirty="0">
                <a:solidFill>
                  <a:srgbClr val="000000"/>
                </a:solidFill>
                <a:effectLst/>
                <a:latin typeface="Helvetica Neue"/>
              </a:rPr>
              <a:t>Introduce a new user with rating to a rating matrix and make recommendations for them</a:t>
            </a:r>
          </a:p>
          <a:p>
            <a:pPr algn="l">
              <a:spcAft>
                <a:spcPts val="675"/>
              </a:spcAft>
              <a:buFont typeface="+mj-lt"/>
              <a:buAutoNum type="arabicPeriod"/>
            </a:pPr>
            <a:r>
              <a:rPr lang="en-US" b="0" i="0" dirty="0">
                <a:solidFill>
                  <a:srgbClr val="000000"/>
                </a:solidFill>
                <a:effectLst/>
                <a:latin typeface="Helvetica Neue"/>
              </a:rPr>
              <a:t>Create a function that will return the top 5 movie recommendations for a user, based on their ratings of other movies</a:t>
            </a:r>
          </a:p>
          <a:p>
            <a:endParaRPr lang="en-US" dirty="0"/>
          </a:p>
        </p:txBody>
      </p:sp>
    </p:spTree>
    <p:extLst>
      <p:ext uri="{BB962C8B-B14F-4D97-AF65-F5344CB8AC3E}">
        <p14:creationId xmlns:p14="http://schemas.microsoft.com/office/powerpoint/2010/main" val="321823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8788-1C33-0F06-4020-EFADAF1143EA}"/>
              </a:ext>
            </a:extLst>
          </p:cNvPr>
          <p:cNvSpPr>
            <a:spLocks noGrp="1"/>
          </p:cNvSpPr>
          <p:nvPr>
            <p:ph type="title"/>
          </p:nvPr>
        </p:nvSpPr>
        <p:spPr/>
        <p:txBody>
          <a:bodyPr/>
          <a:lstStyle/>
          <a:p>
            <a:r>
              <a:rPr lang="en-US" dirty="0"/>
              <a:t>Business and Data Understanding</a:t>
            </a:r>
          </a:p>
        </p:txBody>
      </p:sp>
      <p:sp>
        <p:nvSpPr>
          <p:cNvPr id="3" name="Content Placeholder 2">
            <a:extLst>
              <a:ext uri="{FF2B5EF4-FFF2-40B4-BE49-F238E27FC236}">
                <a16:creationId xmlns:a16="http://schemas.microsoft.com/office/drawing/2014/main" id="{E2AB633C-33B0-E753-3112-2B07109DF831}"/>
              </a:ext>
            </a:extLst>
          </p:cNvPr>
          <p:cNvSpPr>
            <a:spLocks noGrp="1"/>
          </p:cNvSpPr>
          <p:nvPr>
            <p:ph idx="1"/>
          </p:nvPr>
        </p:nvSpPr>
        <p:spPr/>
        <p:txBody>
          <a:bodyPr/>
          <a:lstStyle/>
          <a:p>
            <a:pPr algn="l"/>
            <a:r>
              <a:rPr lang="en-US" b="0" i="0" dirty="0">
                <a:solidFill>
                  <a:srgbClr val="000000"/>
                </a:solidFill>
                <a:effectLst/>
                <a:latin typeface="Helvetica Neue"/>
              </a:rPr>
              <a:t>We will be making a movie recommendations based on the </a:t>
            </a:r>
            <a:r>
              <a:rPr lang="en-US" b="0" i="0" dirty="0" err="1">
                <a:solidFill>
                  <a:srgbClr val="000000"/>
                </a:solidFill>
                <a:effectLst/>
                <a:latin typeface="Helvetica Neue"/>
              </a:rPr>
              <a:t>MovieLens</a:t>
            </a:r>
            <a:r>
              <a:rPr lang="en-US" b="0" i="0" dirty="0">
                <a:solidFill>
                  <a:srgbClr val="000000"/>
                </a:solidFill>
                <a:effectLst/>
                <a:latin typeface="Helvetica Neue"/>
              </a:rPr>
              <a:t> </a:t>
            </a:r>
            <a:r>
              <a:rPr lang="en-US" b="0" i="0" u="sng" dirty="0">
                <a:solidFill>
                  <a:srgbClr val="1A466C"/>
                </a:solidFill>
                <a:effectLst/>
                <a:latin typeface="Helvetica Neue"/>
                <a:hlinkClick r:id="rId2"/>
              </a:rPr>
              <a:t>https://grouplens.org/datasets/movielens/latest/</a:t>
            </a:r>
            <a:r>
              <a:rPr lang="en-US" b="0" i="0" dirty="0">
                <a:solidFill>
                  <a:srgbClr val="000000"/>
                </a:solidFill>
                <a:effectLst/>
                <a:latin typeface="Helvetica Neue"/>
              </a:rPr>
              <a:t> dataset from the </a:t>
            </a:r>
            <a:r>
              <a:rPr lang="en-US" b="0" i="0" dirty="0" err="1">
                <a:solidFill>
                  <a:srgbClr val="000000"/>
                </a:solidFill>
                <a:effectLst/>
                <a:latin typeface="Helvetica Neue"/>
              </a:rPr>
              <a:t>GroupLens</a:t>
            </a:r>
            <a:r>
              <a:rPr lang="en-US" b="0" i="0" dirty="0">
                <a:solidFill>
                  <a:srgbClr val="000000"/>
                </a:solidFill>
                <a:effectLst/>
                <a:latin typeface="Helvetica Neue"/>
              </a:rPr>
              <a:t> research lab at the University of Minnesota.</a:t>
            </a:r>
          </a:p>
          <a:p>
            <a:pPr algn="l"/>
            <a:r>
              <a:rPr lang="en-US" b="0" i="0" dirty="0">
                <a:solidFill>
                  <a:srgbClr val="000000"/>
                </a:solidFill>
                <a:effectLst/>
                <a:latin typeface="Helvetica Neue"/>
              </a:rPr>
              <a:t>The </a:t>
            </a:r>
            <a:r>
              <a:rPr lang="en-US" b="0" i="0" dirty="0" err="1">
                <a:solidFill>
                  <a:srgbClr val="000000"/>
                </a:solidFill>
                <a:effectLst/>
                <a:latin typeface="Helvetica Neue"/>
              </a:rPr>
              <a:t>MovieLens</a:t>
            </a:r>
            <a:r>
              <a:rPr lang="en-US" b="0" i="0" dirty="0">
                <a:solidFill>
                  <a:srgbClr val="000000"/>
                </a:solidFill>
                <a:effectLst/>
                <a:latin typeface="Helvetica Neue"/>
              </a:rPr>
              <a:t> dataset contains the following files; links.csv, movies.csv, ratings.csv and tags.csv. </a:t>
            </a:r>
          </a:p>
          <a:p>
            <a:pPr algn="l"/>
            <a:r>
              <a:rPr lang="en-US" b="0" i="0" dirty="0">
                <a:solidFill>
                  <a:srgbClr val="000000"/>
                </a:solidFill>
                <a:effectLst/>
                <a:latin typeface="Helvetica Neue"/>
              </a:rPr>
              <a:t>For this project, we will only focus on the movies.csv and ratings.csv where we will get </a:t>
            </a:r>
            <a:r>
              <a:rPr lang="en-US" b="0" i="0" dirty="0" err="1">
                <a:solidFill>
                  <a:srgbClr val="000000"/>
                </a:solidFill>
                <a:effectLst/>
                <a:latin typeface="Helvetica Neue"/>
              </a:rPr>
              <a:t>userId</a:t>
            </a:r>
            <a:r>
              <a:rPr lang="en-US" b="0" i="0" dirty="0">
                <a:solidFill>
                  <a:srgbClr val="000000"/>
                </a:solidFill>
                <a:effectLst/>
                <a:latin typeface="Helvetica Neue"/>
              </a:rPr>
              <a:t>, </a:t>
            </a:r>
            <a:r>
              <a:rPr lang="en-US" b="0" i="0" dirty="0" err="1">
                <a:solidFill>
                  <a:srgbClr val="000000"/>
                </a:solidFill>
                <a:effectLst/>
                <a:latin typeface="Helvetica Neue"/>
              </a:rPr>
              <a:t>movieId</a:t>
            </a:r>
            <a:r>
              <a:rPr lang="en-US" b="0" i="0" dirty="0">
                <a:solidFill>
                  <a:srgbClr val="000000"/>
                </a:solidFill>
                <a:effectLst/>
                <a:latin typeface="Helvetica Neue"/>
              </a:rPr>
              <a:t>, rating and title(movie) columns that will be necessary for our recommender system.</a:t>
            </a:r>
          </a:p>
        </p:txBody>
      </p:sp>
    </p:spTree>
    <p:extLst>
      <p:ext uri="{BB962C8B-B14F-4D97-AF65-F5344CB8AC3E}">
        <p14:creationId xmlns:p14="http://schemas.microsoft.com/office/powerpoint/2010/main" val="3915566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60186-2E80-5C17-88FB-09D3FAED5A68}"/>
              </a:ext>
            </a:extLst>
          </p:cNvPr>
          <p:cNvSpPr>
            <a:spLocks noGrp="1"/>
          </p:cNvSpPr>
          <p:nvPr>
            <p:ph type="title"/>
          </p:nvPr>
        </p:nvSpPr>
        <p:spPr/>
        <p:txBody>
          <a:bodyPr/>
          <a:lstStyle/>
          <a:p>
            <a:r>
              <a:rPr lang="en-US" dirty="0"/>
              <a:t>Modelling	</a:t>
            </a:r>
          </a:p>
        </p:txBody>
      </p:sp>
      <p:sp>
        <p:nvSpPr>
          <p:cNvPr id="3" name="Content Placeholder 2">
            <a:extLst>
              <a:ext uri="{FF2B5EF4-FFF2-40B4-BE49-F238E27FC236}">
                <a16:creationId xmlns:a16="http://schemas.microsoft.com/office/drawing/2014/main" id="{D3403387-DDDC-C974-4930-E48AE27E1A4C}"/>
              </a:ext>
            </a:extLst>
          </p:cNvPr>
          <p:cNvSpPr>
            <a:spLocks noGrp="1"/>
          </p:cNvSpPr>
          <p:nvPr>
            <p:ph idx="1"/>
          </p:nvPr>
        </p:nvSpPr>
        <p:spPr/>
        <p:txBody>
          <a:bodyPr/>
          <a:lstStyle/>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We will determine the best model using the Python library called surprise. Surprise has various algorithms that can help us try out multiple different types of collaborative filtering engines ranging from Memory/Neighborhood based methods and Model based method.</a:t>
            </a:r>
          </a:p>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We will use RMSE (Root Mean Squared Error) to measure how far off our predictions are from the actual values. Lower values of RMSE indicate that the model's predictions are closer to the actual values, meaning the model is more accurate.</a:t>
            </a:r>
          </a:p>
          <a:p>
            <a:pPr marL="0" marR="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model with the lowest RMSE will then be used to make predictions and recommendation.</a:t>
            </a:r>
          </a:p>
        </p:txBody>
      </p:sp>
    </p:spTree>
    <p:extLst>
      <p:ext uri="{BB962C8B-B14F-4D97-AF65-F5344CB8AC3E}">
        <p14:creationId xmlns:p14="http://schemas.microsoft.com/office/powerpoint/2010/main" val="2100461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0E37-C1E9-B02C-BBE5-34ED40845002}"/>
              </a:ext>
            </a:extLst>
          </p:cNvPr>
          <p:cNvSpPr>
            <a:spLocks noGrp="1"/>
          </p:cNvSpPr>
          <p:nvPr>
            <p:ph type="title"/>
          </p:nvPr>
        </p:nvSpPr>
        <p:spPr/>
        <p:txBody>
          <a:bodyPr/>
          <a:lstStyle/>
          <a:p>
            <a:r>
              <a:rPr lang="en-US" dirty="0"/>
              <a:t>Predicting and Making Recommendations</a:t>
            </a:r>
          </a:p>
        </p:txBody>
      </p:sp>
      <p:sp>
        <p:nvSpPr>
          <p:cNvPr id="3" name="Content Placeholder 2">
            <a:extLst>
              <a:ext uri="{FF2B5EF4-FFF2-40B4-BE49-F238E27FC236}">
                <a16:creationId xmlns:a16="http://schemas.microsoft.com/office/drawing/2014/main" id="{F915073F-EB25-31AC-014C-64DE24D1A86D}"/>
              </a:ext>
            </a:extLst>
          </p:cNvPr>
          <p:cNvSpPr>
            <a:spLocks noGrp="1"/>
          </p:cNvSpPr>
          <p:nvPr>
            <p:ph idx="1"/>
          </p:nvPr>
        </p:nvSpPr>
        <p:spPr/>
        <p:txBody>
          <a:bodyPr>
            <a:normAutofit/>
          </a:bodyPr>
          <a:lstStyle/>
          <a:p>
            <a:pPr marL="0" indent="0">
              <a:buNone/>
            </a:pPr>
            <a:r>
              <a:rPr lang="en-US" dirty="0"/>
              <a:t>The process of making the recommendations will as follows:</a:t>
            </a:r>
          </a:p>
          <a:p>
            <a:pPr marL="0" indent="0">
              <a:buNone/>
            </a:pPr>
            <a:r>
              <a:rPr lang="en-US" dirty="0"/>
              <a:t>1.	Create a list of user rating for a new user</a:t>
            </a:r>
          </a:p>
          <a:p>
            <a:pPr marL="0" indent="0">
              <a:buNone/>
            </a:pPr>
            <a:r>
              <a:rPr lang="en-US" dirty="0"/>
              <a:t>2.	Make predictions with new ratings</a:t>
            </a:r>
          </a:p>
          <a:p>
            <a:pPr marL="0" indent="0">
              <a:buNone/>
            </a:pPr>
            <a:r>
              <a:rPr lang="en-US" dirty="0"/>
              <a:t>3.	Order the predictions from highest to lowest rated</a:t>
            </a:r>
          </a:p>
          <a:p>
            <a:pPr marL="0" indent="0">
              <a:buNone/>
            </a:pPr>
            <a:r>
              <a:rPr lang="en-US" dirty="0"/>
              <a:t>4.	return the top 5 recommendations</a:t>
            </a:r>
          </a:p>
        </p:txBody>
      </p:sp>
    </p:spTree>
    <p:extLst>
      <p:ext uri="{BB962C8B-B14F-4D97-AF65-F5344CB8AC3E}">
        <p14:creationId xmlns:p14="http://schemas.microsoft.com/office/powerpoint/2010/main" val="880878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AABF-41DE-EC39-8B86-121E5F442689}"/>
              </a:ext>
            </a:extLst>
          </p:cNvPr>
          <p:cNvSpPr>
            <a:spLocks noGrp="1"/>
          </p:cNvSpPr>
          <p:nvPr>
            <p:ph type="title"/>
          </p:nvPr>
        </p:nvSpPr>
        <p:spPr/>
        <p:txBody>
          <a:bodyPr/>
          <a:lstStyle/>
          <a:p>
            <a:r>
              <a:rPr lang="en-US" dirty="0"/>
              <a:t>Deployment/Conclusion</a:t>
            </a:r>
          </a:p>
        </p:txBody>
      </p:sp>
      <p:sp>
        <p:nvSpPr>
          <p:cNvPr id="3" name="Content Placeholder 2">
            <a:extLst>
              <a:ext uri="{FF2B5EF4-FFF2-40B4-BE49-F238E27FC236}">
                <a16:creationId xmlns:a16="http://schemas.microsoft.com/office/drawing/2014/main" id="{D30BBDCC-0139-45E4-31B4-FEC778B37A1D}"/>
              </a:ext>
            </a:extLst>
          </p:cNvPr>
          <p:cNvSpPr>
            <a:spLocks noGrp="1"/>
          </p:cNvSpPr>
          <p:nvPr>
            <p:ph idx="1"/>
          </p:nvPr>
        </p:nvSpPr>
        <p:spPr/>
        <p:txBody>
          <a:bodyPr/>
          <a:lstStyle/>
          <a:p>
            <a:r>
              <a:rPr lang="en-US" b="0" i="0" dirty="0">
                <a:solidFill>
                  <a:srgbClr val="000000"/>
                </a:solidFill>
                <a:effectLst/>
                <a:latin typeface="Helvetica Neue"/>
              </a:rPr>
              <a:t>We have been able to implement a movie recommender system with collaborative filtering based on the Singular Value Decomposition (SVD) model that can be used to predict and make recommendation of the top ranked movies..</a:t>
            </a:r>
          </a:p>
          <a:p>
            <a:pPr marL="0" indent="0">
              <a:buNone/>
            </a:pPr>
            <a:br>
              <a:rPr lang="en-US" dirty="0">
                <a:solidFill>
                  <a:srgbClr val="000000"/>
                </a:solidFill>
                <a:latin typeface="Helvetica Neue"/>
              </a:rPr>
            </a:br>
            <a:endParaRPr lang="en-US" dirty="0"/>
          </a:p>
        </p:txBody>
      </p:sp>
    </p:spTree>
    <p:extLst>
      <p:ext uri="{BB962C8B-B14F-4D97-AF65-F5344CB8AC3E}">
        <p14:creationId xmlns:p14="http://schemas.microsoft.com/office/powerpoint/2010/main" val="38426692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99</TotalTime>
  <Words>405</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Helvetica Neue</vt:lpstr>
      <vt:lpstr>Trebuchet MS</vt:lpstr>
      <vt:lpstr>Wingdings 3</vt:lpstr>
      <vt:lpstr>Facet</vt:lpstr>
      <vt:lpstr>Movie Recommendation System with Collaborative Filtering</vt:lpstr>
      <vt:lpstr>Project Objective </vt:lpstr>
      <vt:lpstr>Business and Data Understanding</vt:lpstr>
      <vt:lpstr>Modelling </vt:lpstr>
      <vt:lpstr>Predicting and Making Recommendations</vt:lpstr>
      <vt:lpstr>Deployment/Conclusion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Kamau</dc:creator>
  <cp:lastModifiedBy>Samuel Kamau</cp:lastModifiedBy>
  <cp:revision>2</cp:revision>
  <dcterms:created xsi:type="dcterms:W3CDTF">2024-12-23T19:19:56Z</dcterms:created>
  <dcterms:modified xsi:type="dcterms:W3CDTF">2025-02-12T22:33:47Z</dcterms:modified>
</cp:coreProperties>
</file>